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39836a14c445c0" /><Relationship Type="http://schemas.openxmlformats.org/officeDocument/2006/relationships/extended-properties" Target="/docProps/app.xml" Id="R457023370c9d4201" /><Relationship Type="http://schemas.openxmlformats.org/officeDocument/2006/relationships/officeDocument" Target="/ppt/presentation.xml" Id="R902131dcea5d45b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f2f033faba84884"/>
  </p:sldMasterIdLst>
  <p:notesMasterIdLst>
    <p:notesMasterId xmlns:r="http://schemas.openxmlformats.org/officeDocument/2006/relationships" r:id="R7d968d2bfb644a5d"/>
  </p:notesMasterIdLst>
  <p:sldIdLst>
    <p:sldId xmlns:r="http://schemas.openxmlformats.org/officeDocument/2006/relationships" id="256" r:id="R2801f2d740db45ba"/>
    <p:sldId xmlns:r="http://schemas.openxmlformats.org/officeDocument/2006/relationships" id="257" r:id="Ra514a20819c24646"/>
    <p:sldId xmlns:r="http://schemas.openxmlformats.org/officeDocument/2006/relationships" id="258" r:id="R38e6324607524f37"/>
    <p:sldId xmlns:r="http://schemas.openxmlformats.org/officeDocument/2006/relationships" id="259" r:id="R355f0c33aba54c21"/>
    <p:sldId xmlns:r="http://schemas.openxmlformats.org/officeDocument/2006/relationships" id="260" r:id="R833d1270d9ee46fc"/>
    <p:sldId xmlns:r="http://schemas.openxmlformats.org/officeDocument/2006/relationships" id="261" r:id="R5bb84f0bc41a4622"/>
    <p:sldId xmlns:r="http://schemas.openxmlformats.org/officeDocument/2006/relationships" id="262" r:id="Rf25af2cac098496a"/>
    <p:sldId xmlns:r="http://schemas.openxmlformats.org/officeDocument/2006/relationships" id="263" r:id="R3876f0158d934392"/>
    <p:sldId xmlns:r="http://schemas.openxmlformats.org/officeDocument/2006/relationships" id="264" r:id="R89b20f7067f14d9f"/>
    <p:sldId xmlns:r="http://schemas.openxmlformats.org/officeDocument/2006/relationships" id="265" r:id="R560df18e7b534406"/>
    <p:sldId xmlns:r="http://schemas.openxmlformats.org/officeDocument/2006/relationships" id="266" r:id="Reb5f395313484084"/>
  </p:sldIdLst>
  <p:sldSz cx="9144000" cy="6858000"/>
  <p:notesSz cx="6858000" cy="9144000"/>
  <p:embeddedFontLst>
    <p:embeddedFont>
      <p:font typeface="Calibri"/>
      <p:regular xmlns:r="http://schemas.openxmlformats.org/officeDocument/2006/relationships" r:id="R4a55da91b2f04a58"/>
      <p:bold xmlns:r="http://schemas.openxmlformats.org/officeDocument/2006/relationships" r:id="R6800e673d0d84eaf"/>
      <p:italic xmlns:r="http://schemas.openxmlformats.org/officeDocument/2006/relationships" r:id="R7348aeced7f84f47"/>
      <p:boldItalic xmlns:r="http://schemas.openxmlformats.org/officeDocument/2006/relationships" r:id="Rd8ed46b5118f456a"/>
    </p:embeddedFont>
    <p:embeddedFont>
      <p:font typeface="Constantia"/>
      <p:regular xmlns:r="http://schemas.openxmlformats.org/officeDocument/2006/relationships" r:id="R0875cfabb8e0459c"/>
      <p:bold xmlns:r="http://schemas.openxmlformats.org/officeDocument/2006/relationships" r:id="R716593147795449a"/>
      <p:italic xmlns:r="http://schemas.openxmlformats.org/officeDocument/2006/relationships" r:id="R9ad3249a6391476d"/>
      <p:boldItalic xmlns:r="http://schemas.openxmlformats.org/officeDocument/2006/relationships" r:id="R6f4eb49ac8774e3f"/>
    </p:embeddedFont>
    <p:embeddedFont>
      <p:font typeface="Corbel"/>
      <p:regular xmlns:r="http://schemas.openxmlformats.org/officeDocument/2006/relationships" r:id="Rb2617f409359463a"/>
      <p:bold xmlns:r="http://schemas.openxmlformats.org/officeDocument/2006/relationships" r:id="R2d37a0cac74546c7"/>
      <p:italic xmlns:r="http://schemas.openxmlformats.org/officeDocument/2006/relationships" r:id="Re9b0553ef85345ee"/>
      <p:boldItalic xmlns:r="http://schemas.openxmlformats.org/officeDocument/2006/relationships" r:id="Rb944e52b40394016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0165C67D-AD63-4676-A505-81800A66DF51}">
  <a:tblStyle styleId="{0165C67D-AD63-4676-A505-81800A66DF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6ee4e0dd24665" /><Relationship Type="http://schemas.openxmlformats.org/officeDocument/2006/relationships/slideMaster" Target="/ppt/slideMasters/slideMaster1.xml" Id="R0f2f033faba84884" /><Relationship Type="http://schemas.openxmlformats.org/officeDocument/2006/relationships/notesMaster" Target="/ppt/notesMasters/notesMaster1.xml" Id="R7d968d2bfb644a5d" /><Relationship Type="http://schemas.openxmlformats.org/officeDocument/2006/relationships/presProps" Target="/ppt/presProps.xml" Id="R69dee27118784376" /><Relationship Type="http://schemas.openxmlformats.org/officeDocument/2006/relationships/viewProps" Target="/ppt/viewProps.xml" Id="Re45c5d644a3c4d30" /><Relationship Type="http://schemas.openxmlformats.org/officeDocument/2006/relationships/tableStyles" Target="/ppt/tableStyles.xml" Id="Rabdf2f6fbd15426a" /><Relationship Type="http://schemas.openxmlformats.org/officeDocument/2006/relationships/font" Target="/ppt/fonts/font.dat" Id="R4a55da91b2f04a58" /><Relationship Type="http://schemas.openxmlformats.org/officeDocument/2006/relationships/font" Target="/ppt/fonts/font2.dat" Id="R6800e673d0d84eaf" /><Relationship Type="http://schemas.openxmlformats.org/officeDocument/2006/relationships/font" Target="/ppt/fonts/font3.dat" Id="R7348aeced7f84f47" /><Relationship Type="http://schemas.openxmlformats.org/officeDocument/2006/relationships/font" Target="/ppt/fonts/font4.dat" Id="Rd8ed46b5118f456a" /><Relationship Type="http://schemas.openxmlformats.org/officeDocument/2006/relationships/font" Target="/ppt/fonts/font5.dat" Id="R0875cfabb8e0459c" /><Relationship Type="http://schemas.openxmlformats.org/officeDocument/2006/relationships/font" Target="/ppt/fonts/font6.dat" Id="R716593147795449a" /><Relationship Type="http://schemas.openxmlformats.org/officeDocument/2006/relationships/font" Target="/ppt/fonts/font7.dat" Id="R9ad3249a6391476d" /><Relationship Type="http://schemas.openxmlformats.org/officeDocument/2006/relationships/font" Target="/ppt/fonts/font8.dat" Id="R6f4eb49ac8774e3f" /><Relationship Type="http://schemas.openxmlformats.org/officeDocument/2006/relationships/font" Target="/ppt/fonts/font9.dat" Id="Rb2617f409359463a" /><Relationship Type="http://schemas.openxmlformats.org/officeDocument/2006/relationships/font" Target="/ppt/fonts/font10.dat" Id="R2d37a0cac74546c7" /><Relationship Type="http://schemas.openxmlformats.org/officeDocument/2006/relationships/font" Target="/ppt/fonts/font11.dat" Id="Re9b0553ef85345ee" /><Relationship Type="http://schemas.openxmlformats.org/officeDocument/2006/relationships/font" Target="/ppt/fonts/font12.dat" Id="Rb944e52b40394016" /><Relationship Type="http://schemas.openxmlformats.org/officeDocument/2006/relationships/slide" Target="/ppt/slides/slide1.xml" Id="R2801f2d740db45ba" /><Relationship Type="http://schemas.openxmlformats.org/officeDocument/2006/relationships/slide" Target="/ppt/slides/slide2.xml" Id="Ra514a20819c24646" /><Relationship Type="http://schemas.openxmlformats.org/officeDocument/2006/relationships/slide" Target="/ppt/slides/slide3.xml" Id="R38e6324607524f37" /><Relationship Type="http://schemas.openxmlformats.org/officeDocument/2006/relationships/slide" Target="/ppt/slides/slide4.xml" Id="R355f0c33aba54c21" /><Relationship Type="http://schemas.openxmlformats.org/officeDocument/2006/relationships/slide" Target="/ppt/slides/slide5.xml" Id="R833d1270d9ee46fc" /><Relationship Type="http://schemas.openxmlformats.org/officeDocument/2006/relationships/slide" Target="/ppt/slides/slide6.xml" Id="R5bb84f0bc41a4622" /><Relationship Type="http://schemas.openxmlformats.org/officeDocument/2006/relationships/slide" Target="/ppt/slides/slide7.xml" Id="Rf25af2cac098496a" /><Relationship Type="http://schemas.openxmlformats.org/officeDocument/2006/relationships/slide" Target="/ppt/slides/slide8.xml" Id="R3876f0158d934392" /><Relationship Type="http://schemas.openxmlformats.org/officeDocument/2006/relationships/slide" Target="/ppt/slides/slide9.xml" Id="R89b20f7067f14d9f" /><Relationship Type="http://schemas.openxmlformats.org/officeDocument/2006/relationships/slide" Target="/ppt/slides/slide10.xml" Id="R560df18e7b534406" /><Relationship Type="http://schemas.openxmlformats.org/officeDocument/2006/relationships/slide" Target="/ppt/slides/slide11.xml" Id="Reb5f39531348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364d5221b4f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>
          <a:solidFill>
            <a:schemeClr val="phClr">
              <a:tint val="60000"/>
            </a:schemeClr>
          </a:solidFill>
          <a:prstDash val="solid"/>
        </a:ln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e276a1ff74b31" /><Relationship Type="http://schemas.openxmlformats.org/officeDocument/2006/relationships/notesMaster" Target="/ppt/notesMasters/notesMaster1.xml" Id="Reab218c260444f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51a09143364def" /><Relationship Type="http://schemas.openxmlformats.org/officeDocument/2006/relationships/notesMaster" Target="/ppt/notesMasters/notesMaster1.xml" Id="R08b0c709d8b9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a94e012924db4" /><Relationship Type="http://schemas.openxmlformats.org/officeDocument/2006/relationships/notesMaster" Target="/ppt/notesMasters/notesMaster1.xml" Id="R065949f6805c42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b4dda5abb4a1e" /><Relationship Type="http://schemas.openxmlformats.org/officeDocument/2006/relationships/notesMaster" Target="/ppt/notesMasters/notesMaster1.xml" Id="R1fbd716cf22844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82bb03cabc47aa" /><Relationship Type="http://schemas.openxmlformats.org/officeDocument/2006/relationships/notesMaster" Target="/ppt/notesMasters/notesMaster1.xml" Id="R14a5bd7348ad49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5694105d364e5a" /><Relationship Type="http://schemas.openxmlformats.org/officeDocument/2006/relationships/notesMaster" Target="/ppt/notesMasters/notesMaster1.xml" Id="Rdc85caf99abf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3e66a5bf314b65" /><Relationship Type="http://schemas.openxmlformats.org/officeDocument/2006/relationships/notesMaster" Target="/ppt/notesMasters/notesMaster1.xml" Id="Re211632667cf4d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f5f0471564db9" /><Relationship Type="http://schemas.openxmlformats.org/officeDocument/2006/relationships/notesMaster" Target="/ppt/notesMasters/notesMaster1.xml" Id="Ra8da18f443cd45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204cab3f04f5e" /><Relationship Type="http://schemas.openxmlformats.org/officeDocument/2006/relationships/notesMaster" Target="/ppt/notesMasters/notesMaster1.xml" Id="Rf3ca988eaccd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4b62afb9054a2a" /><Relationship Type="http://schemas.openxmlformats.org/officeDocument/2006/relationships/notesMaster" Target="/ppt/notesMasters/notesMaster1.xml" Id="R6537d8eb8af649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5416d65f3d4e8e" /><Relationship Type="http://schemas.openxmlformats.org/officeDocument/2006/relationships/notesMaster" Target="/ppt/notesMasters/notesMaster1.xml" Id="Raa7b383064b7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Arpana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Niha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Anusree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Eberle, Toni, Klaus Nölp, and Lena Oden. “p2p-copy: A secure high-performance file transfer tool for restricted network environments.” SoftwareX, 35 (2026), article 102882. https://doi.org/10.1016/j.softx.2026.102882. The selected study is Internet/data-center focused, so its claims are not treated as LAN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Kempf, Marcel, Benedikt Jaeger, Johannes Zirngibl, Kevin Ploch, and Georg Carle. “QUIC on the Fast Lane: Extending Performance Evaluations on High-rate Links.” Computer Communications, 223 (2024), pp. 90–100. https://doi.org/10.1016/j.comcom.2024.04.038. The article reports implementation-dependent QUIC goodput and TCP results on dedicated high-rate links.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Fesl, Jan, et al. “Data center TCP dataset.” Data in Brief, 54 (2024), article 110522. https://doi.org/10.1016/j.dib.2024.110522. The article describes 17 TCP variants, 18 metrics and 50 measurements per variant. Its test link was capped at 16 Mbps, as described in the paper’s data description.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Zhang, Yucheng, et al. “A fragmentation-aware redundancy elimination scheme for inline backup systems.” Future Generation Computer Systems, 156 (2024), pp. 53–63. https://doi.org/10.1016/j.future.2024.03.004. FaRE is designed for backup storage, not direct peer-to-peer LAN transfer.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gap is limited to the selected papers and the proposed test setting. This is not a claim that no prior LAN file-transfer research exists, and it is not a novelty claim. The comparison is a plan; the prototype and results do not yet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four reviewed items are journal articles published in 2024–2026 by Elsevier. Conference papers are excluded from the survey in accordance with the supplied college guidelines.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e76c96eee4e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9a818eb3745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4e74fdf5a42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bd5d8e83343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f04e32a4347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33e34d03b4c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7d5aa53a645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d6321b1bc4f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a62847d1d41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1b6c52e6a49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d2581a06b486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7aeee4bba4cb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857ce89d1463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576da9b2f42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8811997174d4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53e7293324de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265523b6744c7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1C1E97-7A90-4537-8955-DC392F57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350" y="0"/>
            <a:ext cx="1365250" cy="3971925"/>
          </a:xfrm>
          <a:custGeom xmlns:a="http://schemas.openxmlformats.org/drawingml/2006/main">
            <a:rect l="0" t="0" r="r" b="b"/>
            <a:pathLst>
              <a:path w="860" h="2502">
                <a:moveTo>
                  <a:pt x="0" y="2445"/>
                </a:moveTo>
                <a:lnTo>
                  <a:pt x="228" y="2502"/>
                </a:lnTo>
                <a:lnTo>
                  <a:pt x="860" y="0"/>
                </a:lnTo>
                <a:lnTo>
                  <a:pt x="620" y="0"/>
                </a:lnTo>
                <a:lnTo>
                  <a:pt x="0" y="2445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5" name="Freeform 7">
            <a:extLst xmlns:a="http://schemas.openxmlformats.org/drawingml/2006/main">
              <a:ext uri="{FF2B5EF4-FFF2-40B4-BE49-F238E27FC236}">
                <a16:creationId xmlns:a16="http://schemas.microsoft.com/office/drawing/2014/main" id="{573B5661-C7C8-4CCC-A50D-1AAEC8D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200" y="0"/>
            <a:ext cx="1336675" cy="3862388"/>
          </a:xfrm>
          <a:custGeom xmlns:a="http://schemas.openxmlformats.org/drawingml/2006/main">
            <a:rect l="0" t="0" r="r" b="b"/>
            <a:pathLst>
              <a:path w="842" h="2433">
                <a:moveTo>
                  <a:pt x="842" y="0"/>
                </a:moveTo>
                <a:lnTo>
                  <a:pt x="602" y="0"/>
                </a:lnTo>
                <a:lnTo>
                  <a:pt x="0" y="2376"/>
                </a:lnTo>
                <a:lnTo>
                  <a:pt x="228" y="2433"/>
                </a:lnTo>
                <a:lnTo>
                  <a:pt x="842" y="0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65000"/>
              <a:lumOff val="35000"/>
            </a:schemeClr>
          </a:solidFill>
          <a:ln xmlns:a="http://schemas.openxmlformats.org/drawingml/2006/main">
            <a:noFill/>
          </a:ln>
        </p:spPr>
      </p:sp>
      <p:sp>
        <p:nvSpPr>
          <p:cNvPr id="16" name="Freeform 8">
            <a:extLst xmlns:a="http://schemas.openxmlformats.org/drawingml/2006/main">
              <a:ext uri="{FF2B5EF4-FFF2-40B4-BE49-F238E27FC236}">
                <a16:creationId xmlns:a16="http://schemas.microsoft.com/office/drawing/2014/main" id="{34CA26A2-2869-4FAE-A8AB-2F7EC6A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963" y="3776663"/>
            <a:ext cx="1936750" cy="3081338"/>
          </a:xfrm>
          <a:custGeom xmlns:a="http://schemas.openxmlformats.org/drawingml/2006/main">
            <a:rect l="0" t="0" r="r" b="b"/>
            <a:pathLst>
              <a:path w="1220" h="1941">
                <a:moveTo>
                  <a:pt x="0" y="0"/>
                </a:moveTo>
                <a:lnTo>
                  <a:pt x="1166" y="1941"/>
                </a:lnTo>
                <a:lnTo>
                  <a:pt x="1220" y="1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</p:sp>
      <p:sp>
        <p:nvSpPr>
          <p:cNvPr id="20" name="Freeform 9">
            <a:extLst xmlns:a="http://schemas.openxmlformats.org/drawingml/2006/main">
              <a:ext uri="{FF2B5EF4-FFF2-40B4-BE49-F238E27FC236}">
                <a16:creationId xmlns:a16="http://schemas.microsoft.com/office/drawing/2014/main" id="{3E29A7DB-EC67-4157-8F26-5E6199B1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113" y="3886200"/>
            <a:ext cx="2373313" cy="2971800"/>
          </a:xfrm>
          <a:custGeom xmlns:a="http://schemas.openxmlformats.org/drawingml/2006/main">
            <a:rect l="0" t="0" r="r" b="b"/>
            <a:pathLst>
              <a:path w="1495" h="1872">
                <a:moveTo>
                  <a:pt x="1495" y="1872"/>
                </a:moveTo>
                <a:lnTo>
                  <a:pt x="0" y="0"/>
                </a:lnTo>
                <a:lnTo>
                  <a:pt x="1442" y="1872"/>
                </a:lnTo>
                <a:lnTo>
                  <a:pt x="1495" y="1872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</p:sp>
      <p:sp>
        <p:nvSpPr>
          <p:cNvPr id="2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79D2B1E-3C0A-4833-A5E5-F76D37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350" y="3881438"/>
            <a:ext cx="3340100" cy="2976563"/>
          </a:xfrm>
          <a:custGeom xmlns:a="http://schemas.openxmlformats.org/drawingml/2006/main">
            <a:rect l="0" t="0" r="r" b="b"/>
            <a:pathLst>
              <a:path w="2104" h="1875">
                <a:moveTo>
                  <a:pt x="0" y="0"/>
                </a:moveTo>
                <a:lnTo>
                  <a:pt x="3" y="3"/>
                </a:lnTo>
                <a:lnTo>
                  <a:pt x="1498" y="1875"/>
                </a:lnTo>
                <a:lnTo>
                  <a:pt x="2104" y="1875"/>
                </a:lnTo>
                <a:lnTo>
                  <a:pt x="228" y="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</p:sp>
      <p:sp>
        <p:nvSpPr>
          <p:cNvPr id="2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2059646-C952-418D-A3FB-8AF729D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200" y="3771900"/>
            <a:ext cx="2660650" cy="3086100"/>
          </a:xfrm>
          <a:custGeom xmlns:a="http://schemas.openxmlformats.org/drawingml/2006/main">
            <a:rect l="0" t="0" r="r" b="b"/>
            <a:pathLst>
              <a:path w="1676" h="1944">
                <a:moveTo>
                  <a:pt x="1676" y="1944"/>
                </a:moveTo>
                <a:lnTo>
                  <a:pt x="264" y="111"/>
                </a:lnTo>
                <a:lnTo>
                  <a:pt x="225" y="60"/>
                </a:lnTo>
                <a:lnTo>
                  <a:pt x="228" y="60"/>
                </a:lnTo>
                <a:lnTo>
                  <a:pt x="264" y="111"/>
                </a:lnTo>
                <a:lnTo>
                  <a:pt x="234" y="69"/>
                </a:lnTo>
                <a:lnTo>
                  <a:pt x="228" y="57"/>
                </a:lnTo>
                <a:lnTo>
                  <a:pt x="222" y="54"/>
                </a:lnTo>
                <a:lnTo>
                  <a:pt x="0" y="0"/>
                </a:lnTo>
                <a:lnTo>
                  <a:pt x="3" y="3"/>
                </a:lnTo>
                <a:lnTo>
                  <a:pt x="1223" y="1944"/>
                </a:lnTo>
                <a:lnTo>
                  <a:pt x="1676" y="1944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>
            <a:noFill/>
          </a:ln>
        </p:spPr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BCDE8-7424-4CEB-B122-9FABFA1501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39673" y="914401"/>
            <a:ext cx="6947127" cy="34882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r">
              <a:buNone/>
              <a:defRPr sz="5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9889D5-0ADB-42AD-8B3A-BA6F20CDE4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4238" y="4402666"/>
            <a:ext cx="5762563" cy="1364531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F4B168-AA80-4135-BBA8-7498C8D2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325773" y="6117336"/>
            <a:ext cx="85747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CBAB56-4D26-4EBC-86BD-267EBE48F1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623733" y="6117336"/>
            <a:ext cx="360943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71B97-EA18-4F85-AA36-B21440B97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75320" y="6117336"/>
            <a:ext cx="41148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581385D-1008-49B9-90E1-1265305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3771900"/>
            <a:ext cx="361950" cy="90488"/>
          </a:xfrm>
          <a:custGeom xmlns:a="http://schemas.openxmlformats.org/drawingml/2006/main"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 xmlns:a="http://schemas.openxmlformats.org/drawingml/2006/main">
            <a:srgbClr val="29ABE2"/>
          </a:solidFill>
          <a:ln xmlns:a="http://schemas.openxmlformats.org/drawingml/2006/main">
            <a:noFill/>
          </a:ln>
        </p:spPr>
      </p:sp>
      <p:sp>
        <p:nvSpPr>
          <p:cNvPr id="24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72F9514-8C23-434F-A8AB-7F7281EF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88" y="3867150"/>
            <a:ext cx="61913" cy="80963"/>
          </a:xfrm>
          <a:custGeom xmlns:a="http://schemas.openxmlformats.org/drawingml/2006/main"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9ABE2"/>
          </a:solidFill>
          <a:ln xmlns:a="http://schemas.openxmlformats.org/drawingml/2006/main"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C156EE-5F6A-4F05-9588-2DBAA466D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133" y="457201"/>
            <a:ext cx="7704667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804773-33DC-44F8-A7D9-CE7DE96EF9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2133" y="2667000"/>
            <a:ext cx="7704667" cy="3332816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1A5293-D94B-4B64-B8D5-11C9BB9B6C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344329" y="6108173"/>
            <a:ext cx="85747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E07564-6A90-406F-8EEF-9D1489F3DB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972647" y="6108173"/>
            <a:ext cx="531451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274DAD-83E1-4C8E-9444-0DE95F9F18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58967" y="6108173"/>
            <a:ext cx="42783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78BDA7-8565-4DEA-9327-B623AF2BEE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995" y="2666998"/>
            <a:ext cx="6699805" cy="2360071"/>
          </a:xfrm>
        </p:spPr>
        <p:txBody>
          <a:bodyPr xmlns:a="http://schemas.openxmlformats.org/drawingml/2006/main" anchor="b"/>
          <a:lstStyle xmlns:a="http://schemas.openxmlformats.org/drawingml/2006/main">
            <a:lvl1pPr algn="r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D4F2B33-9C59-4D67-8C56-A516B9282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986998" y="5027070"/>
            <a:ext cx="6699802" cy="860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6917B4-3BFE-419A-93D8-F9D06F11A3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9994BF-CB78-4558-8FB0-BC64445D11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D62812-AE29-4275-AC6B-FFEB6A9A6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73317" y="6116070"/>
            <a:ext cx="41348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283377-9DE7-4F3A-A4E6-7D7420A42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133" y="685801"/>
            <a:ext cx="7704667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AC29AE-3A72-47C2-A08C-C4AC743FC7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2133" y="2667000"/>
            <a:ext cx="3739896" cy="336867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DB8DF2-C188-440E-9730-72FFCD6236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946904" y="2667000"/>
            <a:ext cx="3739896" cy="33468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DE8C77-77C3-4CDD-BBB3-BE85AB973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CC53A9-488B-4FCB-9C36-BE341D8D2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18958D-FF7C-4402-AE77-AB3F9ED703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4EF588-1F53-4A8E-B7F0-81CD43AE8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20EFB5-A840-48E7-ADFE-9474ABD8B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29481" y="2658533"/>
            <a:ext cx="3456291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746B4B-5B76-4EB9-9DDC-CBECDD3835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113523" y="3335336"/>
            <a:ext cx="3672248" cy="2665259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A547683-E9F5-456A-AE4A-2BE05079EF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161710" y="2667000"/>
            <a:ext cx="3467806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D4EA44A-BB40-4252-9F28-6B55E2AA80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957266" y="3335336"/>
            <a:ext cx="3672248" cy="2665259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0C8544A-22C2-43F3-B282-B80AF06EF9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10EF0F0-10BB-4857-90EA-A90F79868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4AB045-62DC-403A-BE05-761C5AED7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EDFE0E-66FF-4979-A4EF-75E1DC4EE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A9D6867-CC6B-434D-AE87-1B40EB9F9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B0B5CFA-ACFB-45F2-AC9A-9AC15ED530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7B3861A-A02D-4B07-B5E0-232B9231A1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9081459-8192-40D9-AD09-EC0944F5CC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CE8F8C9-3A25-4D8B-8DB6-E112980874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CA1140B-98FC-4B38-AA15-585A3071D5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29ABD5-D912-46C5-9E57-B5252B1EF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3524" y="1600200"/>
            <a:ext cx="2662534" cy="1371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E7A71C-DCA6-4D79-B91A-88D89E0E3A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47553" y="685800"/>
            <a:ext cx="4681962" cy="51054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895BA9-2099-4E61-98A2-335743CEC9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13524" y="2971800"/>
            <a:ext cx="2662534" cy="1828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BFD82B-6524-440E-84F5-D526C960FE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C09E7F-5FA9-4479-9774-79F64F19AD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342127-DB0D-4A0A-B019-C1FCCD0840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B59F14-D54F-4C2C-B996-5167A3FB3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2332" y="1752599"/>
            <a:ext cx="4070679" cy="1371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F7D7C42-FFC9-4BB2-973E-3C5DFE23334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697495" y="914400"/>
            <a:ext cx="2461371" cy="4572000"/>
          </a:xfrm>
          <a:prstGeom xmlns:a="http://schemas.openxmlformats.org/drawingml/2006/main" prst="roundRect">
            <a:avLst>
              <a:gd name="adj" fmla="val 4280"/>
            </a:avLst>
          </a:prstGeom>
          <a:ln xmlns:a="http://schemas.openxmlformats.org/drawingml/2006/main"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 xmlns:a="http://schemas.openxmlformats.org/drawingml/2006/main"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45D518-247B-4454-B5C5-3022771FE6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12332" y="3124199"/>
            <a:ext cx="4070679" cy="1828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2493F0-C976-4CB1-AF6A-5DEA71F00F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FC5B4D-1BEC-449E-BCA2-34A771A44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7E145B-3C7E-4D46-8E73-8160336AE8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6997E7-8673-4094-85D7-01FF1B163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3523" y="4732865"/>
            <a:ext cx="7515991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EB3B9DE-A504-4807-A83B-2EA8BFC4E10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89975" y="932112"/>
            <a:ext cx="6171065" cy="3164976"/>
          </a:xfrm>
          <a:prstGeom xmlns:a="http://schemas.openxmlformats.org/drawingml/2006/main" prst="roundRect">
            <a:avLst>
              <a:gd name="adj" fmla="val 4380"/>
            </a:avLst>
          </a:prstGeom>
          <a:ln xmlns:a="http://schemas.openxmlformats.org/drawingml/2006/main"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 xmlns:a="http://schemas.openxmlformats.org/drawingml/2006/main"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65D341-52B3-4E2A-B3B5-B9E2FD80FD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13523" y="5299603"/>
            <a:ext cx="7515991" cy="4937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C1E143-D61C-4B7F-B9C9-E67D96BD76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E65575-42FE-4FC6-9B42-B02EFF6C8F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DF18FE-0621-49E8-8CAF-5E9477FF9A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994C8C-4E94-4ABA-BE33-4C72D838C8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3524" y="685800"/>
            <a:ext cx="7515991" cy="30480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322B51-F8E8-4E25-A826-D0D0344936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4" y="4343400"/>
            <a:ext cx="7515992" cy="14478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074F91-CE2D-49F4-8DBE-5075F5A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775720-602C-4F80-A7AC-11FE59D545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978661-5648-4AE3-98B2-3F0A00E53C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B097F22-7FC6-46C6-A756-3741B4F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21" y="863023"/>
            <a:ext cx="457319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627070-96EF-4ADD-AECC-9EC623A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197" y="2819399"/>
            <a:ext cx="457319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2A8C4E-01BC-435D-A9C8-EEB8C1848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6741" y="685801"/>
            <a:ext cx="6974115" cy="274319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8D08ECA4-DDE3-41E4-AE61-ABB84C25E8A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598235" y="3428999"/>
            <a:ext cx="6631128" cy="3810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AB1D8B-EF00-4745-8864-13DD0B3AC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3" y="4343400"/>
            <a:ext cx="7515991" cy="14478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0A6644-70BE-4A2E-88F1-68F1319B00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551448-3074-413B-B48C-2151FE1D2A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CD75FE-6ECB-4013-B7EE-750070BB2E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BCBACA-F786-423C-AE23-38E7046F5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3525" y="3308581"/>
            <a:ext cx="7515989" cy="14688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r">
              <a:buNone/>
              <a:defRPr sz="32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74B1AF-1BA7-4312-BC0E-134AB2CC2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4" y="4777381"/>
            <a:ext cx="7515990" cy="860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340D7B-D1C0-4013-850D-968B05AB12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31C494-FF5C-4ABE-9B48-D932A9568F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AAE1D2-0078-4DA8-AE5D-61D970A44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F8F958-31E4-4B02-9F75-8238F75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21" y="863023"/>
            <a:ext cx="457319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1E6FB7B-0150-4ADE-8AB1-637192C2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197" y="2819399"/>
            <a:ext cx="457319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BA31CF-045E-44DB-8A7A-6FBFEAE0CB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6741" y="685801"/>
            <a:ext cx="6974115" cy="274319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C747165A-0EC1-40AE-84DC-41D6B1BE73C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13525" y="3886200"/>
            <a:ext cx="7515990" cy="889000"/>
          </a:xfr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r">
              <a:buNone/>
              <a:defRPr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spcBef>
                <a:spcPct val="0"/>
              </a:spcBef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BF8A88-BF8E-4402-B767-F6EF773FB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4" y="4775200"/>
            <a:ext cx="7515990" cy="10160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3D690D-5238-4BBC-A25C-9831781D09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6A8980-D8F8-4602-ABF1-448CCB592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0FCC50-05CC-4E8D-AE3A-29D93DF844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539CC-9BFB-4C1E-B5B4-E521BF222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3525" y="685801"/>
            <a:ext cx="7515991" cy="2727325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b="0"/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9D4DBB93-9BBA-45BB-95A6-AA0516E589F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13524" y="3505200"/>
            <a:ext cx="7515992" cy="838200"/>
          </a:xfr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>
              <a:buNone/>
              <a:defRPr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spcBef>
                <a:spcPct val="0"/>
              </a:spcBef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3A054B-C1E7-4904-8010-78427D6C2D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4" y="4343400"/>
            <a:ext cx="7515992" cy="1447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43940A-E766-49BB-896B-F42BAA1749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220BD7-A91F-4F26-8060-5372E50EA0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31F51-535E-47E5-B4FE-8F33A95699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F1388-45E7-4188-9BAC-FA8B2BE72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488177-094D-4794-86AF-B5B115C6C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5B7A14-4448-460F-9F57-CA467B480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07A85D-40F1-4672-97DB-0FB524F4FD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9BA6F1-3AD1-4387-823D-1BB4EAA4EB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0A0F7A-4AF0-4AFF-A99D-F931F55F2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01393" y="685800"/>
            <a:ext cx="1328123" cy="5105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F60A0D-506D-4693-9021-1B7BE9ADC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3524" y="685800"/>
            <a:ext cx="6016373" cy="5105400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24E923-51E1-4B6D-8471-3148E4136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7B6445-E3AF-4ED3-9B3B-EE258980C5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C821FD-2A0E-4C67-914A-891F17FDB5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6d50278744acd" /><Relationship Type="http://schemas.openxmlformats.org/officeDocument/2006/relationships/slideLayout" Target="/ppt/slideLayouts/slideLayout1.xml" Id="Rc8c04f6b4eb24dcb" /><Relationship Type="http://schemas.openxmlformats.org/officeDocument/2006/relationships/slideLayout" Target="/ppt/slideLayouts/slideLayout2.xml" Id="Rc4a8d95e2b2b4dac" /><Relationship Type="http://schemas.openxmlformats.org/officeDocument/2006/relationships/slideLayout" Target="/ppt/slideLayouts/slideLayout3.xml" Id="R8bbfa7777f634212" /><Relationship Type="http://schemas.openxmlformats.org/officeDocument/2006/relationships/slideLayout" Target="/ppt/slideLayouts/slideLayout4.xml" Id="Rc184a1f7606347ea" /><Relationship Type="http://schemas.openxmlformats.org/officeDocument/2006/relationships/slideLayout" Target="/ppt/slideLayouts/slideLayout5.xml" Id="Re6342f86b5f243f3" /><Relationship Type="http://schemas.openxmlformats.org/officeDocument/2006/relationships/slideLayout" Target="/ppt/slideLayouts/slideLayout6.xml" Id="R08de8247f9654fa1" /><Relationship Type="http://schemas.openxmlformats.org/officeDocument/2006/relationships/slideLayout" Target="/ppt/slideLayouts/slideLayout7.xml" Id="R5882b65902d64087" /><Relationship Type="http://schemas.openxmlformats.org/officeDocument/2006/relationships/slideLayout" Target="/ppt/slideLayouts/slideLayout8.xml" Id="Re2f97b97da364477" /><Relationship Type="http://schemas.openxmlformats.org/officeDocument/2006/relationships/slideLayout" Target="/ppt/slideLayouts/slideLayout9.xml" Id="R9f3ccd8dd4834c77" /><Relationship Type="http://schemas.openxmlformats.org/officeDocument/2006/relationships/slideLayout" Target="/ppt/slideLayouts/slideLayout10.xml" Id="R5c386ac4b6624c56" /><Relationship Type="http://schemas.openxmlformats.org/officeDocument/2006/relationships/slideLayout" Target="/ppt/slideLayouts/slideLayout11.xml" Id="Rddd140f3a84546ee" /><Relationship Type="http://schemas.openxmlformats.org/officeDocument/2006/relationships/slideLayout" Target="/ppt/slideLayouts/slideLayout12.xml" Id="R7978537146544972" /><Relationship Type="http://schemas.openxmlformats.org/officeDocument/2006/relationships/slideLayout" Target="/ppt/slideLayouts/slideLayout13.xml" Id="Rbd65f85a1d5244f4" /><Relationship Type="http://schemas.openxmlformats.org/officeDocument/2006/relationships/slideLayout" Target="/ppt/slideLayouts/slideLayout14.xml" Id="Rf68d43f608c54867" /><Relationship Type="http://schemas.openxmlformats.org/officeDocument/2006/relationships/slideLayout" Target="/ppt/slideLayouts/slideLayout15.xml" Id="Rf2ec69fbb42b4459" /><Relationship Type="http://schemas.openxmlformats.org/officeDocument/2006/relationships/slideLayout" Target="/ppt/slideLayouts/slideLayout16.xml" Id="R1f0b89bb417d4c60" /><Relationship Type="http://schemas.openxmlformats.org/officeDocument/2006/relationships/slideLayout" Target="/ppt/slideLayouts/slideLayout17.xml" Id="Rcd7ddeefbd694650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6">
            <a:extLst xmlns:a="http://schemas.openxmlformats.org/drawingml/2006/main">
              <a:ext uri="{FF2B5EF4-FFF2-40B4-BE49-F238E27FC236}">
                <a16:creationId xmlns:a16="http://schemas.microsoft.com/office/drawing/2014/main" id="{4EE9D180-05AA-417B-AD42-5CBC9888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073150" cy="5291138"/>
          </a:xfrm>
          <a:custGeom xmlns:a="http://schemas.openxmlformats.org/drawingml/2006/main">
            <a:rect l="0" t="0" r="r" b="b"/>
            <a:pathLst>
              <a:path w="676" h="3333">
                <a:moveTo>
                  <a:pt x="0" y="3132"/>
                </a:moveTo>
                <a:lnTo>
                  <a:pt x="0" y="3312"/>
                </a:lnTo>
                <a:lnTo>
                  <a:pt x="126" y="3333"/>
                </a:lnTo>
                <a:lnTo>
                  <a:pt x="676" y="0"/>
                </a:lnTo>
                <a:lnTo>
                  <a:pt x="514" y="0"/>
                </a:lnTo>
                <a:lnTo>
                  <a:pt x="0" y="313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6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C31647-DF76-4D5B-80C3-F5E70C8A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758825" cy="4624388"/>
          </a:xfrm>
          <a:custGeom xmlns:a="http://schemas.openxmlformats.org/drawingml/2006/main">
            <a:rect l="0" t="0" r="r" b="b"/>
            <a:pathLst>
              <a:path w="478" h="2913">
                <a:moveTo>
                  <a:pt x="478" y="0"/>
                </a:moveTo>
                <a:lnTo>
                  <a:pt x="318" y="0"/>
                </a:lnTo>
                <a:lnTo>
                  <a:pt x="0" y="1938"/>
                </a:lnTo>
                <a:lnTo>
                  <a:pt x="0" y="2913"/>
                </a:lnTo>
                <a:lnTo>
                  <a:pt x="478" y="0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65000"/>
              <a:lumOff val="35000"/>
            </a:schemeClr>
          </a:solidFill>
          <a:ln xmlns:a="http://schemas.openxmlformats.org/drawingml/2006/main">
            <a:noFill/>
          </a:ln>
        </p:spPr>
      </p:sp>
      <p:sp>
        <p:nvSpPr>
          <p:cNvPr id="17" name="Freeform 8">
            <a:extLst xmlns:a="http://schemas.openxmlformats.org/drawingml/2006/main">
              <a:ext uri="{FF2B5EF4-FFF2-40B4-BE49-F238E27FC236}">
                <a16:creationId xmlns:a16="http://schemas.microsoft.com/office/drawing/2014/main" id="{0A0512E7-A3B6-4146-A2F3-89737A9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662613"/>
            <a:ext cx="906463" cy="1195388"/>
          </a:xfrm>
          <a:custGeom xmlns:a="http://schemas.openxmlformats.org/drawingml/2006/main">
            <a:rect l="0" t="0" r="r" b="b"/>
            <a:pathLst>
              <a:path w="571" h="753">
                <a:moveTo>
                  <a:pt x="0" y="0"/>
                </a:moveTo>
                <a:lnTo>
                  <a:pt x="0" y="12"/>
                </a:lnTo>
                <a:lnTo>
                  <a:pt x="538" y="753"/>
                </a:lnTo>
                <a:lnTo>
                  <a:pt x="571" y="7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</p:sp>
      <p:sp>
        <p:nvSpPr>
          <p:cNvPr id="1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893F370-FC9B-4C09-BDDC-D80C24F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295900"/>
            <a:ext cx="1487488" cy="1562100"/>
          </a:xfrm>
          <a:custGeom xmlns:a="http://schemas.openxmlformats.org/drawingml/2006/main">
            <a:rect l="0" t="0" r="r" b="b"/>
            <a:pathLst>
              <a:path w="937" h="984">
                <a:moveTo>
                  <a:pt x="0" y="0"/>
                </a:moveTo>
                <a:lnTo>
                  <a:pt x="0" y="3"/>
                </a:lnTo>
                <a:lnTo>
                  <a:pt x="901" y="984"/>
                </a:lnTo>
                <a:lnTo>
                  <a:pt x="937" y="9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</p:sp>
      <p:sp>
        <p:nvSpPr>
          <p:cNvPr id="1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077D5C2-A2E9-4D44-B5DB-36105D30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257800"/>
            <a:ext cx="2132013" cy="1600200"/>
          </a:xfrm>
          <a:custGeom xmlns:a="http://schemas.openxmlformats.org/drawingml/2006/main">
            <a:rect l="0" t="0" r="r" b="b"/>
            <a:pathLst>
              <a:path w="1343" h="1008">
                <a:moveTo>
                  <a:pt x="0" y="24"/>
                </a:moveTo>
                <a:lnTo>
                  <a:pt x="937" y="1008"/>
                </a:lnTo>
                <a:lnTo>
                  <a:pt x="1343" y="1008"/>
                </a:lnTo>
                <a:lnTo>
                  <a:pt x="126" y="21"/>
                </a:lnTo>
                <a:lnTo>
                  <a:pt x="0" y="0"/>
                </a:lnTo>
                <a:lnTo>
                  <a:pt x="0" y="24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</p:sp>
      <p:sp>
        <p:nvSpPr>
          <p:cNvPr id="2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E8A1A91-2E37-4233-BB93-ED2903C9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357813"/>
            <a:ext cx="1377950" cy="1500188"/>
          </a:xfrm>
          <a:custGeom xmlns:a="http://schemas.openxmlformats.org/drawingml/2006/main">
            <a:rect l="0" t="0" r="r" b="b"/>
            <a:pathLst>
              <a:path w="868" h="945">
                <a:moveTo>
                  <a:pt x="0" y="192"/>
                </a:moveTo>
                <a:lnTo>
                  <a:pt x="571" y="945"/>
                </a:lnTo>
                <a:lnTo>
                  <a:pt x="868" y="945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>
            <a:noFill/>
          </a:ln>
        </p:spPr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9A079AF-BCE2-4973-B487-25F788E73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133" y="457201"/>
            <a:ext cx="7704667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4F3BAA-639E-4393-9EA4-0A5C3DAFF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2134" y="2667000"/>
            <a:ext cx="7704666" cy="3356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0EFC7E-4473-479B-B251-888B9E6D33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358679" y="6116070"/>
            <a:ext cx="85747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F4C7DD-B2CC-44FB-BB6E-D5B3600967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986997" y="6116070"/>
            <a:ext cx="531451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2E33F-29EF-4673-BB35-F8A1C2C6C2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273317" y="6116070"/>
            <a:ext cx="41348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04f6b4eb24dcb"/>
    <p:sldLayoutId xmlns:r="http://schemas.openxmlformats.org/officeDocument/2006/relationships" id="2147483650" r:id="Rc4a8d95e2b2b4dac"/>
    <p:sldLayoutId xmlns:r="http://schemas.openxmlformats.org/officeDocument/2006/relationships" id="2147483651" r:id="R8bbfa7777f634212"/>
    <p:sldLayoutId xmlns:r="http://schemas.openxmlformats.org/officeDocument/2006/relationships" id="2147483652" r:id="Rc184a1f7606347ea"/>
    <p:sldLayoutId xmlns:r="http://schemas.openxmlformats.org/officeDocument/2006/relationships" id="2147483653" r:id="Re6342f86b5f243f3"/>
    <p:sldLayoutId xmlns:r="http://schemas.openxmlformats.org/officeDocument/2006/relationships" id="2147483654" r:id="R08de8247f9654fa1"/>
    <p:sldLayoutId xmlns:r="http://schemas.openxmlformats.org/officeDocument/2006/relationships" id="2147483655" r:id="R5882b65902d64087"/>
    <p:sldLayoutId xmlns:r="http://schemas.openxmlformats.org/officeDocument/2006/relationships" id="2147483656" r:id="Re2f97b97da364477"/>
    <p:sldLayoutId xmlns:r="http://schemas.openxmlformats.org/officeDocument/2006/relationships" id="2147483657" r:id="R9f3ccd8dd4834c77"/>
    <p:sldLayoutId xmlns:r="http://schemas.openxmlformats.org/officeDocument/2006/relationships" id="2147483658" r:id="R5c386ac4b6624c56"/>
    <p:sldLayoutId xmlns:r="http://schemas.openxmlformats.org/officeDocument/2006/relationships" id="2147483659" r:id="Rddd140f3a84546ee"/>
    <p:sldLayoutId xmlns:r="http://schemas.openxmlformats.org/officeDocument/2006/relationships" id="2147483660" r:id="R7978537146544972"/>
    <p:sldLayoutId xmlns:r="http://schemas.openxmlformats.org/officeDocument/2006/relationships" id="2147483661" r:id="Rbd65f85a1d5244f4"/>
    <p:sldLayoutId xmlns:r="http://schemas.openxmlformats.org/officeDocument/2006/relationships" id="2147483662" r:id="Rf68d43f608c54867"/>
    <p:sldLayoutId xmlns:r="http://schemas.openxmlformats.org/officeDocument/2006/relationships" id="2147483663" r:id="Rf2ec69fbb42b4459"/>
    <p:sldLayoutId xmlns:r="http://schemas.openxmlformats.org/officeDocument/2006/relationships" id="2147483664" r:id="R1f0b89bb417d4c60"/>
    <p:sldLayoutId xmlns:r="http://schemas.openxmlformats.org/officeDocument/2006/relationships" id="2147483665" r:id="Rcd7ddeefbd694650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285750" indent="-28575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200150" indent="-28575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43050" indent="-17145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00250" indent="-17145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>
          <a:solidFill>
            <a:schemeClr val="phClr">
              <a:tint val="60000"/>
            </a:schemeClr>
          </a:solidFill>
          <a:prstDash val="solid"/>
        </a:ln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399bfd0bc4e7c" /><Relationship Type="http://schemas.openxmlformats.org/officeDocument/2006/relationships/image" Target="/ppt/media/image.png" Id="R1213caf1e1454b33" /><Relationship Type="http://schemas.openxmlformats.org/officeDocument/2006/relationships/notesSlide" Target="/ppt/notesSlides/notesSlide1.xml" Id="Rb4dc7a41b3e347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a5cfb010a4171" /><Relationship Type="http://schemas.openxmlformats.org/officeDocument/2006/relationships/image" Target="/ppt/media/image.png" Id="R6930874e773144f5" /><Relationship Type="http://schemas.openxmlformats.org/officeDocument/2006/relationships/notesSlide" Target="/ppt/notesSlides/notesSlide2.xml" Id="Rbe67a8022463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0619609fc45d8" /><Relationship Type="http://schemas.openxmlformats.org/officeDocument/2006/relationships/image" Target="/ppt/media/image.png" Id="R8c55c0e502e14117" /><Relationship Type="http://schemas.openxmlformats.org/officeDocument/2006/relationships/notesSlide" Target="/ppt/notesSlides/notesSlide3.xml" Id="Re972215c89d54d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286840a1e47d9" /><Relationship Type="http://schemas.openxmlformats.org/officeDocument/2006/relationships/image" Target="/ppt/media/image.png" Id="Rd5ef3e7f6c40466b" /><Relationship Type="http://schemas.openxmlformats.org/officeDocument/2006/relationships/notesSlide" Target="/ppt/notesSlides/notesSlide4.xml" Id="R7b6774bb1b0b4c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92d9030624c65" /><Relationship Type="http://schemas.openxmlformats.org/officeDocument/2006/relationships/image" Target="/ppt/media/image.png" Id="Rcda5b047c4604204" /><Relationship Type="http://schemas.openxmlformats.org/officeDocument/2006/relationships/notesSlide" Target="/ppt/notesSlides/notesSlide5.xml" Id="Rd2f0872179344d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36569e7324bfc" /><Relationship Type="http://schemas.openxmlformats.org/officeDocument/2006/relationships/image" Target="/ppt/media/image.png" Id="Rc7578b1e20d34e33" /><Relationship Type="http://schemas.openxmlformats.org/officeDocument/2006/relationships/notesSlide" Target="/ppt/notesSlides/notesSlide6.xml" Id="R43a5bad6f12d4e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b0833a99e4f5f" /><Relationship Type="http://schemas.openxmlformats.org/officeDocument/2006/relationships/image" Target="/ppt/media/image.png" Id="R76a7ba8cf7754996" /><Relationship Type="http://schemas.openxmlformats.org/officeDocument/2006/relationships/notesSlide" Target="/ppt/notesSlides/notesSlide7.xml" Id="Rc0bf6b0d1835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badb18a5ff406f" /><Relationship Type="http://schemas.openxmlformats.org/officeDocument/2006/relationships/image" Target="/ppt/media/image.png" Id="Rba2b90e47cad4d2f" /><Relationship Type="http://schemas.openxmlformats.org/officeDocument/2006/relationships/notesSlide" Target="/ppt/notesSlides/notesSlide8.xml" Id="R7c243c12ed1d46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03ba5738944bf4" /><Relationship Type="http://schemas.openxmlformats.org/officeDocument/2006/relationships/notesSlide" Target="/ppt/notesSlides/notesSlide9.xml" Id="R51eba54e004d47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95db7947e54ddd" /><Relationship Type="http://schemas.openxmlformats.org/officeDocument/2006/relationships/image" Target="/ppt/media/image.png" Id="R3deae464e24241a2" /><Relationship Type="http://schemas.openxmlformats.org/officeDocument/2006/relationships/notesSlide" Target="/ppt/notesSlides/notesSlide10.xml" Id="Rdbf880d2cb1841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6168373d9c4fbd" /><Relationship Type="http://schemas.openxmlformats.org/officeDocument/2006/relationships/image" Target="/ppt/media/image.png" Id="Rfa21cc18615c4ef1" /><Relationship Type="http://schemas.openxmlformats.org/officeDocument/2006/relationships/notesSlide" Target="/ppt/notesSlides/notesSlide11.xml" Id="Rfa3febaf035a45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3">
            <a:extLst xmlns:a="http://schemas.openxmlformats.org/drawingml/2006/main">
              <a:ext uri="{FF2B5EF4-FFF2-40B4-BE49-F238E27FC236}">
                <a16:creationId xmlns:a16="http://schemas.microsoft.com/office/drawing/2014/main" id="{E2142FE9-C7C4-437E-A80F-1D91A2B732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17463" y="1215710"/>
            <a:ext cx="5653200" cy="105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nstantia"/>
              <a:buNone/>
            </a:pPr>
            <a:r>
              <a:rPr sz="3200" b="1"/>
              <a:t>Resumable LAN File Transfer Protocol</a:t>
            </a:r>
            <a:endParaRPr sz="3200" b="1"/>
          </a:p>
        </p:txBody>
      </p:sp>
      <p:sp>
        <p:nvSpPr>
          <p:cNvPr id="129" name="Google Shape;129;p13">
            <a:extLst xmlns:a="http://schemas.openxmlformats.org/drawingml/2006/main">
              <a:ext uri="{FF2B5EF4-FFF2-40B4-BE49-F238E27FC236}">
                <a16:creationId xmlns:a16="http://schemas.microsoft.com/office/drawing/2014/main" id="{E7823C80-C92A-4502-A8F4-7D6F56149B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87625" y="2421150"/>
            <a:ext cx="6912900" cy="33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sz="1800">
                <a:solidFill>
                  <a:srgbClr val="000000"/>
                </a:solidFill>
              </a:rPr>
              <a:t> </a:t>
            </a:r>
            <a:endParaRPr sz="1800">
              <a:solidFill>
                <a:srgbClr val="000000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sz="1800">
                <a:solidFill>
                  <a:srgbClr val="000000"/>
                </a:solidFill>
              </a:rPr>
              <a:t>                       </a:t>
            </a:r>
            <a:endParaRPr sz="1800"/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 xmlns:a="http://schemas.openxmlformats.org/drawingml/2006/main">
            <a:pPr marL="0" lvl="0" indent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Guide: [Guide Name]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Designation: [Guide Designation]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Science &amp; Engineering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B.M.S. College of Engineering</a:t>
            </a:r>
            <a:endParaRPr sz="16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0" name="Google Shape;130;p13">
            <a:extLst xmlns:a="http://schemas.openxmlformats.org/drawingml/2006/main">
              <a:ext uri="{FF2B5EF4-FFF2-40B4-BE49-F238E27FC236}">
                <a16:creationId xmlns:a16="http://schemas.microsoft.com/office/drawing/2014/main" id="{E7136680-E1A2-4D73-8211-67FA3491D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13caf1e1454b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4"/>
            <a:ext cx="851975" cy="7390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131" name="Google Shape;131;p13">
            <a:extLst xmlns:a="http://schemas.openxmlformats.org/drawingml/2006/main">
              <a:ext uri="{FF2B5EF4-FFF2-40B4-BE49-F238E27FC236}">
                <a16:creationId xmlns:a16="http://schemas.microsoft.com/office/drawing/2014/main" id="{33805257-87CC-4B01-8F44-9A8C00591642}"/>
              </a:ext>
            </a:extLst>
          </p:cNvPr>
          <p:cNvGraphicFramePr/>
          <p:nvPr/>
        </p:nvGraphicFramePr>
        <p:xfrm>
          <a:off xmlns:a="http://schemas.openxmlformats.org/drawingml/2006/main" x="1705500" y="2556200"/>
          <a:ext xmlns:a="http://schemas.openxmlformats.org/drawingml/2006/main" cx="5443400" cy="1895775"/>
        </p:xfrm>
        <a:graphic xmlns:a="http://schemas.openxmlformats.org/drawingml/2006/main">
          <a:graphicData uri="http://schemas.openxmlformats.org/drawingml/2006/table">
            <a:tbl>
              <a:tblPr>
                <a:tableStyleId>{0165C67D-AD63-4676-A505-81800A66DF51}</a:tableStyleId>
              </a:tblPr>
              <a:tblGrid>
                <a:gridCol w="2721700"/>
                <a:gridCol w="2721700"/>
              </a:tblGrid>
              <a:tr h="3257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[Student 1 Name]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[USN]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[Student 2 Name]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[USN]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[Student 3 Name]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[USN]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[Student 4 Name]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[USN]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581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14">
            <a:extLst xmlns:a="http://schemas.openxmlformats.org/drawingml/2006/main">
              <a:ext uri="{FF2B5EF4-FFF2-40B4-BE49-F238E27FC236}">
                <a16:creationId xmlns:a16="http://schemas.microsoft.com/office/drawing/2014/main" id="{6B2E621A-DC6F-4A3A-982E-5BD8DCF42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OUTLINE</a:t>
            </a:r>
            <a:endParaRPr sz="2800" b="1"/>
          </a:p>
        </p:txBody>
      </p:sp>
      <p:sp>
        <p:nvSpPr>
          <p:cNvPr id="141" name="Google Shape;141;p14">
            <a:extLst xmlns:a="http://schemas.openxmlformats.org/drawingml/2006/main">
              <a:ext uri="{FF2B5EF4-FFF2-40B4-BE49-F238E27FC236}">
                <a16:creationId xmlns:a16="http://schemas.microsoft.com/office/drawing/2014/main" id="{3D880935-3EF7-488C-AA9A-88F696B2BA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828800" y="2835666"/>
            <a:ext cx="5830750" cy="2887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42926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sz="2000">
                <a:latin typeface="Times New Roman"/>
                <a:ea typeface="Times New Roman"/>
                <a:cs typeface="Times New Roman"/>
              </a:rPr>
              <a:t>Introduction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0" indent="-429260" algn="just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sz="2000">
                <a:latin typeface="Times New Roman"/>
                <a:ea typeface="Times New Roman"/>
                <a:cs typeface="Times New Roman"/>
              </a:rPr>
              <a:t>Problem Statement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0" indent="-429260" algn="just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sz="2000">
                <a:latin typeface="Times New Roman"/>
                <a:ea typeface="Times New Roman"/>
                <a:cs typeface="Times New Roman"/>
              </a:rPr>
              <a:t>Literature Survey and Comparison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lvl="0" indent="-429260" algn="just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sz="2000">
                <a:latin typeface="Times New Roman"/>
                <a:ea typeface="Times New Roman"/>
                <a:cs typeface="Times New Roman"/>
              </a:rPr>
              <a:t>References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3" name="Google Shape;143;p14">
            <a:extLst xmlns:a="http://schemas.openxmlformats.org/drawingml/2006/main">
              <a:ext uri="{FF2B5EF4-FFF2-40B4-BE49-F238E27FC236}">
                <a16:creationId xmlns:a16="http://schemas.microsoft.com/office/drawing/2014/main" id="{ACDF3D4D-CC2C-4C41-BF7D-17650A58A4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2</a:t>
            </a:fld>
            <a:endParaRPr/>
          </a:p>
        </p:txBody>
      </p:sp>
      <p:pic>
        <p:nvPicPr>
          <p:cNvPr id="144" name="Google Shape;144;p14">
            <a:extLst xmlns:a="http://schemas.openxmlformats.org/drawingml/2006/main">
              <a:ext uri="{FF2B5EF4-FFF2-40B4-BE49-F238E27FC236}">
                <a16:creationId xmlns:a16="http://schemas.microsoft.com/office/drawing/2014/main" id="{6E13BB2D-7E00-479D-972D-43963CC49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30874e773144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206452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15">
            <a:extLst xmlns:a="http://schemas.openxmlformats.org/drawingml/2006/main">
              <a:ext uri="{FF2B5EF4-FFF2-40B4-BE49-F238E27FC236}">
                <a16:creationId xmlns:a16="http://schemas.microsoft.com/office/drawing/2014/main" id="{DCC3AC74-1A5E-478E-A6BE-FE8C8C061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Introduction</a:t>
            </a:r>
            <a:endParaRPr sz="2800" b="1"/>
          </a:p>
        </p:txBody>
      </p:sp>
      <p:sp>
        <p:nvSpPr>
          <p:cNvPr id="154" name="Google Shape;154;p15">
            <a:extLst xmlns:a="http://schemas.openxmlformats.org/drawingml/2006/main">
              <a:ext uri="{FF2B5EF4-FFF2-40B4-BE49-F238E27FC236}">
                <a16:creationId xmlns:a16="http://schemas.microsoft.com/office/drawing/2014/main" id="{60152D84-E28A-48D1-829E-1D38959C62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92098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File sharing moves lab, backup and personal files between nearby computers.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TCP carries an ordered byte stream. The application defines messages and file completion.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This project proposes binary frames, bounded chunks, SHA-256 verification and resume.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Domain: Computer Networks. SDG alignment: SDG 9, reliable digital infrastructure.</a:t>
            </a:r>
          </a:p>
        </p:txBody>
      </p:sp>
      <p:sp>
        <p:nvSpPr>
          <p:cNvPr id="155" name="Google Shape;155;p15">
            <a:extLst xmlns:a="http://schemas.openxmlformats.org/drawingml/2006/main">
              <a:ext uri="{FF2B5EF4-FFF2-40B4-BE49-F238E27FC236}">
                <a16:creationId xmlns:a16="http://schemas.microsoft.com/office/drawing/2014/main" id="{CDA136AE-9CF4-4393-8921-81B4B057D5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56" name="Google Shape;156;p15">
            <a:extLst xmlns:a="http://schemas.openxmlformats.org/drawingml/2006/main">
              <a:ext uri="{FF2B5EF4-FFF2-40B4-BE49-F238E27FC236}">
                <a16:creationId xmlns:a16="http://schemas.microsoft.com/office/drawing/2014/main" id="{7B978EC5-E7AA-48F6-B56E-F0E02DF33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55c0e502e141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017553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16">
            <a:extLst xmlns:a="http://schemas.openxmlformats.org/drawingml/2006/main">
              <a:ext uri="{FF2B5EF4-FFF2-40B4-BE49-F238E27FC236}">
                <a16:creationId xmlns:a16="http://schemas.microsoft.com/office/drawing/2014/main" id="{ADCAB8BF-C28A-4737-B5D6-FD6AB715C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Problem Statement</a:t>
            </a:r>
            <a:endParaRPr sz="2800" b="1"/>
          </a:p>
        </p:txBody>
      </p:sp>
      <p:sp>
        <p:nvSpPr>
          <p:cNvPr id="167" name="Google Shape;167;p16">
            <a:extLst xmlns:a="http://schemas.openxmlformats.org/drawingml/2006/main">
              <a:ext uri="{FF2B5EF4-FFF2-40B4-BE49-F238E27FC236}">
                <a16:creationId xmlns:a16="http://schemas.microsoft.com/office/drawing/2014/main" id="{30397D74-B93E-43F9-AE82-2B6E126432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73818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A basic copy can move bytes without defining transfer messages or file-level completion.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If TCP disconnects, a sender may repeat work unless both peers record progress.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The receiver needs a whole-file check before treating the staged copy as complete.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Research question: how do streaming, verification and resume affect correctness, recovery and throughput on a LAN versus one-shot TCP?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Objective: implement and measure a minimal version. No measured results exist yet.</a:t>
            </a:r>
          </a:p>
        </p:txBody>
      </p:sp>
      <p:sp>
        <p:nvSpPr>
          <p:cNvPr id="168" name="Google Shape;168;p16">
            <a:extLst xmlns:a="http://schemas.openxmlformats.org/drawingml/2006/main">
              <a:ext uri="{FF2B5EF4-FFF2-40B4-BE49-F238E27FC236}">
                <a16:creationId xmlns:a16="http://schemas.microsoft.com/office/drawing/2014/main" id="{8E2905BF-F506-496A-A7E2-7E5FE9A2E6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69" name="Google Shape;169;p16">
            <a:extLst xmlns:a="http://schemas.openxmlformats.org/drawingml/2006/main">
              <a:ext uri="{FF2B5EF4-FFF2-40B4-BE49-F238E27FC236}">
                <a16:creationId xmlns:a16="http://schemas.microsoft.com/office/drawing/2014/main" id="{FC642F59-6668-4D13-B015-E57E73380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ef3e7f6c4046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826093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7">
            <a:extLst xmlns:a="http://schemas.openxmlformats.org/drawingml/2006/main">
              <a:ext uri="{FF2B5EF4-FFF2-40B4-BE49-F238E27FC236}">
                <a16:creationId xmlns:a16="http://schemas.microsoft.com/office/drawing/2014/main" id="{2EFBB399-3F4E-4CBA-B810-55F74ECD0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Recent File Transfer Tools</a:t>
            </a:r>
            <a:endParaRPr sz="2800" b="1"/>
          </a:p>
        </p:txBody>
      </p:sp>
      <p:sp>
        <p:nvSpPr>
          <p:cNvPr id="180" name="Google Shape;180;p17">
            <a:extLst xmlns:a="http://schemas.openxmlformats.org/drawingml/2006/main">
              <a:ext uri="{FF2B5EF4-FFF2-40B4-BE49-F238E27FC236}">
                <a16:creationId xmlns:a16="http://schemas.microsoft.com/office/drawing/2014/main" id="{A695910F-D142-4CBC-B18E-546058A7DC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83519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Eberle, Nölp and Oden present p2p-copy, a Python transfer tool for restricted networks [1].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It uses a pairing code and secure WebSockets through a relay, with encryption, compression, integrity checks and resume.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The paper reports data-center benchmarks and comparisons with rsync.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Relevance: these features can coexist. Its Internet and relay setting differs from our proposed LAN test.</a:t>
            </a:r>
          </a:p>
        </p:txBody>
      </p:sp>
      <p:sp>
        <p:nvSpPr>
          <p:cNvPr id="181" name="Google Shape;181;p17">
            <a:extLst xmlns:a="http://schemas.openxmlformats.org/drawingml/2006/main">
              <a:ext uri="{FF2B5EF4-FFF2-40B4-BE49-F238E27FC236}">
                <a16:creationId xmlns:a16="http://schemas.microsoft.com/office/drawing/2014/main" id="{1F733A04-7CE9-4B6B-B6B0-5251B2084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>
            <a:extLst xmlns:a="http://schemas.openxmlformats.org/drawingml/2006/main">
              <a:ext uri="{FF2B5EF4-FFF2-40B4-BE49-F238E27FC236}">
                <a16:creationId xmlns:a16="http://schemas.microsoft.com/office/drawing/2014/main" id="{BAFE729A-1A27-44B5-B30C-76012FD28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a5b047c46042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85528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7">
            <a:extLst xmlns:a="http://schemas.openxmlformats.org/drawingml/2006/main">
              <a:ext uri="{FF2B5EF4-FFF2-40B4-BE49-F238E27FC236}">
                <a16:creationId xmlns:a16="http://schemas.microsoft.com/office/drawing/2014/main" id="{602009DF-B88F-4C81-9079-67F11DE7D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Transfer Performance on High-Speed Links</a:t>
            </a:r>
            <a:endParaRPr sz="2800" b="1"/>
          </a:p>
        </p:txBody>
      </p:sp>
      <p:sp>
        <p:nvSpPr>
          <p:cNvPr id="180" name="Google Shape;180;p17">
            <a:extLst xmlns:a="http://schemas.openxmlformats.org/drawingml/2006/main">
              <a:ext uri="{FF2B5EF4-FFF2-40B4-BE49-F238E27FC236}">
                <a16:creationId xmlns:a16="http://schemas.microsoft.com/office/drawing/2014/main" id="{71CC68B0-9955-492F-9D93-E2081073DA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82973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Kempf et al. evaluate QUIC implementations on dedicated 10 Gbit/s links [2].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Reported QUIC goodput varied widely. TCP reached about 8 Gbit/s under the tested conditions.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Operating-system buffers, CPU, packet processing and NIC offload influenced measured performance.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Use for method: record software, hardware and network setup. This is not an application-level LAN comparison.</a:t>
            </a:r>
          </a:p>
        </p:txBody>
      </p:sp>
      <p:sp>
        <p:nvSpPr>
          <p:cNvPr id="181" name="Google Shape;181;p17">
            <a:extLst xmlns:a="http://schemas.openxmlformats.org/drawingml/2006/main">
              <a:ext uri="{FF2B5EF4-FFF2-40B4-BE49-F238E27FC236}">
                <a16:creationId xmlns:a16="http://schemas.microsoft.com/office/drawing/2014/main" id="{0494E0A0-3802-47CC-8D10-823215D3F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>
            <a:extLst xmlns:a="http://schemas.openxmlformats.org/drawingml/2006/main">
              <a:ext uri="{FF2B5EF4-FFF2-40B4-BE49-F238E27FC236}">
                <a16:creationId xmlns:a16="http://schemas.microsoft.com/office/drawing/2014/main" id="{97829E5E-F62D-42A8-93E5-859662F32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578b1e20d34e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88761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7">
            <a:extLst xmlns:a="http://schemas.openxmlformats.org/drawingml/2006/main">
              <a:ext uri="{FF2B5EF4-FFF2-40B4-BE49-F238E27FC236}">
                <a16:creationId xmlns:a16="http://schemas.microsoft.com/office/drawing/2014/main" id="{9127660B-3656-4FFA-BEBE-22593256E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TCP Performance Measurement</a:t>
            </a:r>
            <a:endParaRPr sz="2800" b="1"/>
          </a:p>
        </p:txBody>
      </p:sp>
      <p:sp>
        <p:nvSpPr>
          <p:cNvPr id="180" name="Google Shape;180;p17">
            <a:extLst xmlns:a="http://schemas.openxmlformats.org/drawingml/2006/main">
              <a:ext uri="{FF2B5EF4-FFF2-40B4-BE49-F238E27FC236}">
                <a16:creationId xmlns:a16="http://schemas.microsoft.com/office/drawing/2014/main" id="{C34A96F8-8763-4AC7-AF40-634682385A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86620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Fesl et al. publish a dataset comparing 17 TCP congestion-control variants [3].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The measurements use one iperf3 TCP flow on a 16 Mbps link and 50 repeats per variant.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The dataset contributes reusable transport measurements and a repeatable comparison method.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Difference: it does not study application framing, whole-file verification or resume after disconnect.</a:t>
            </a:r>
          </a:p>
        </p:txBody>
      </p:sp>
      <p:sp>
        <p:nvSpPr>
          <p:cNvPr id="181" name="Google Shape;181;p17">
            <a:extLst xmlns:a="http://schemas.openxmlformats.org/drawingml/2006/main">
              <a:ext uri="{FF2B5EF4-FFF2-40B4-BE49-F238E27FC236}">
                <a16:creationId xmlns:a16="http://schemas.microsoft.com/office/drawing/2014/main" id="{090C0997-A6F3-4584-A191-E0F673034C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>
            <a:extLst xmlns:a="http://schemas.openxmlformats.org/drawingml/2006/main">
              <a:ext uri="{FF2B5EF4-FFF2-40B4-BE49-F238E27FC236}">
                <a16:creationId xmlns:a16="http://schemas.microsoft.com/office/drawing/2014/main" id="{9657A57D-7B5F-42DF-B848-185944F40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a7ba8cf77549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55143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7">
            <a:extLst xmlns:a="http://schemas.openxmlformats.org/drawingml/2006/main">
              <a:ext uri="{FF2B5EF4-FFF2-40B4-BE49-F238E27FC236}">
                <a16:creationId xmlns:a16="http://schemas.microsoft.com/office/drawing/2014/main" id="{C6F05DE4-0FA5-4853-9BF2-11EACE5B9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Delta Compression for Backups</a:t>
            </a:r>
            <a:endParaRPr sz="2800" b="1"/>
          </a:p>
        </p:txBody>
      </p:sp>
      <p:sp>
        <p:nvSpPr>
          <p:cNvPr id="180" name="Google Shape;180;p17">
            <a:extLst xmlns:a="http://schemas.openxmlformats.org/drawingml/2006/main">
              <a:ext uri="{FF2B5EF4-FFF2-40B4-BE49-F238E27FC236}">
                <a16:creationId xmlns:a16="http://schemas.microsoft.com/office/drawing/2014/main" id="{74A70547-3952-48ED-88B7-023E566B9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78470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Zhang et al. propose FaRE, a redundancy-elimination scheme for inline backups [4].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It estimates chunk fragmentation and chooses between sequential deduplication and local delta compression.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The design balances storage efficiency, restoration performance and backup throughput by limiting extra I/O.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Relevance: similar-file delta transfer is a stretch goal after basic correctness and resume are demonstrated.</a:t>
            </a:r>
          </a:p>
        </p:txBody>
      </p:sp>
      <p:sp>
        <p:nvSpPr>
          <p:cNvPr id="181" name="Google Shape;181;p17">
            <a:extLst xmlns:a="http://schemas.openxmlformats.org/drawingml/2006/main">
              <a:ext uri="{FF2B5EF4-FFF2-40B4-BE49-F238E27FC236}">
                <a16:creationId xmlns:a16="http://schemas.microsoft.com/office/drawing/2014/main" id="{DC7003DF-F634-4528-822E-F3D9362C7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>
            <a:extLst xmlns:a="http://schemas.openxmlformats.org/drawingml/2006/main">
              <a:ext uri="{FF2B5EF4-FFF2-40B4-BE49-F238E27FC236}">
                <a16:creationId xmlns:a16="http://schemas.microsoft.com/office/drawing/2014/main" id="{23D70C2D-2374-4300-83E4-95B3CDC7A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2b90e47cad4d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96953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A222B7-7FBC-4B71-B334-2CA77BCA0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Comparison of Existing Approaches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DCDB69-F478-48AE-9C7A-43F52FE4AA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rmAutofit fontScale="76571"/>
          </a:bodyPr>
          <a:lstStyle xmlns:a="http://schemas.openxmlformats.org/drawingml/2006/main">
            <a:def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defPPr>
            <a:lvl1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1pPr>
            <a:lvl2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2pPr>
            <a:lvl3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3pPr>
            <a:lvl4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4pPr>
            <a:lvl5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5pPr>
            <a:lvl6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6pPr>
            <a:lvl7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7pPr>
            <a:lvl8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8pPr>
            <a:lvl9pPr algn="l"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lvl9pPr>
          </a:lstStyle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p2p-copy: secure Internet transfers with integrity checks and resume [1].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Transport studies: TCP and QUIC rates vary with implementation, operating system and network settings [2, 3].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FaRE: delta compression reduces repeated backup data but adds storage work [4].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Proposed MVP: one TCP file at a time, bounded chunks, SHA-256 and receiver-reported resume offset.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2400">
                <a:solidFill>
                  <a:srgbClr val="000000"/>
                </a:solidFill>
                <a:latin typeface="Corbel"/>
                <a:ea typeface="Corbel"/>
                <a:cs typeface="Corbel"/>
              </a:defRPr>
            </a:pPr>
            <a:r>
              <a:rPr sz="240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Review gap: the selected papers do not test this feature set against one-shot TCP on a simple LAN.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84971B-DADB-4FFC-AB18-6D7DF3BA4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7482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1" name="Google Shape;341;p29">
            <a:extLst xmlns:a="http://schemas.openxmlformats.org/drawingml/2006/main">
              <a:ext uri="{FF2B5EF4-FFF2-40B4-BE49-F238E27FC236}">
                <a16:creationId xmlns:a16="http://schemas.microsoft.com/office/drawing/2014/main" id="{6E1FDA3B-C145-495C-AB56-6A7576914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sz="2800" b="1"/>
              <a:t>References</a:t>
            </a:r>
            <a:endParaRPr sz="2800" b="1"/>
          </a:p>
        </p:txBody>
      </p:sp>
      <p:sp>
        <p:nvSpPr>
          <p:cNvPr id="342" name="Google Shape;342;p29">
            <a:extLst xmlns:a="http://schemas.openxmlformats.org/drawingml/2006/main">
              <a:ext uri="{FF2B5EF4-FFF2-40B4-BE49-F238E27FC236}">
                <a16:creationId xmlns:a16="http://schemas.microsoft.com/office/drawing/2014/main" id="{416A77C9-7418-473D-8EE8-4834A9158FE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3790" y="1933907"/>
            <a:ext cx="6196500" cy="360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45720" rIns="91440" bIns="45720" anchor="t">
            <a:normAutofit fontScale="86385"/>
          </a:bodyPr>
          <a:lstStyle xmlns:a="http://schemas.openxmlformats.org/drawingml/2006/main">
            <a:def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Eberle, T., Nölp, K. and Oden, L., “p2p-copy: A secure high-performance file transfer tool for restricted network environments,” SoftwareX, vol. 35, art. 102882, 2026. doi:10.1016/j.softx.2026.102882.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/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Kempf, M., Jaeger, B., Zirngibl, J., Ploch, K. and Carle, G., “QUIC on the Fast Lane: Extending Performance Evaluations on High-rate Links,” Computer Communications, vol. 223, pp. 90–100, 2024. doi:10.1016/j.comcom.2024.04.038.</a:t>
            </a:r>
            <a:endParaRPr sz="1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Times New Roman"/>
                <a:ea typeface="Times New Roman"/>
                <a:cs typeface="Times New Roman"/>
              </a:rPr>
              <a:t/>
            </a:r>
            <a:endParaRPr sz="20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Fesl, J. et al., “Data center TCP dataset,” Data in Brief, vol. 54, art. 110522, 2024. doi:10.1016/j.dib.2024.110522.</a:t>
            </a:r>
            <a:endParaRPr sz="20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Times New Roman"/>
                <a:ea typeface="Times New Roman"/>
                <a:cs typeface="Times New Roman"/>
              </a:rPr>
              <a:t/>
            </a:r>
            <a:endParaRPr sz="20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Zhang, Y. et al., “A fragmentation-aware redundancy elimination scheme for inline backup systems,” Future Generation Computer Systems, vol. 156, pp. 53–63, 2024. doi:10.1016/j.future.2024.03.004.</a:t>
            </a:r>
            <a:endParaRPr sz="2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3" name="Google Shape;343;p29">
            <a:extLst xmlns:a="http://schemas.openxmlformats.org/drawingml/2006/main">
              <a:ext uri="{FF2B5EF4-FFF2-40B4-BE49-F238E27FC236}">
                <a16:creationId xmlns:a16="http://schemas.microsoft.com/office/drawing/2014/main" id="{8CA3459A-3E6F-467A-B11B-5C8038381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44" name="Google Shape;344;p29">
            <a:extLst xmlns:a="http://schemas.openxmlformats.org/drawingml/2006/main">
              <a:ext uri="{FF2B5EF4-FFF2-40B4-BE49-F238E27FC236}">
                <a16:creationId xmlns:a16="http://schemas.microsoft.com/office/drawing/2014/main" id="{C162EB19-9D40-4E9F-8A00-B365637DB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eae464e24241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340779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Google Shape;415;p35">
            <a:extLst xmlns:a="http://schemas.openxmlformats.org/drawingml/2006/main">
              <a:ext uri="{FF2B5EF4-FFF2-40B4-BE49-F238E27FC236}">
                <a16:creationId xmlns:a16="http://schemas.microsoft.com/office/drawing/2014/main" id="{4A5B83EE-7E63-4AEB-90A4-D6F568B21A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1900" y="602400"/>
            <a:ext cx="77385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b="1"/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b="1"/>
          </a:p>
          <a:p xmlns:a="http://schemas.openxmlformats.org/drawingml/2006/main"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b="1"/>
          </a:p>
          <a:p xmlns:a="http://schemas.openxmlformats.org/drawingml/2006/main">
            <a:pPr marL="0" lvl="0" indent="0" algn="ctr">
              <a:spcBef>
                <a:spcPts val="800"/>
              </a:spcBef>
              <a:spcAft>
                <a:spcPts val="0"/>
              </a:spcAft>
              <a:buSzPts val="3400"/>
              <a:buNone/>
            </a:pPr>
            <a:endParaRPr sz="4000" b="1"/>
          </a:p>
          <a:p xmlns:a="http://schemas.openxmlformats.org/drawingml/2006/main">
            <a:pPr marL="0" lvl="0" indent="0" algn="ctr">
              <a:spcBef>
                <a:spcPts val="800"/>
              </a:spcBef>
              <a:spcAft>
                <a:spcPts val="0"/>
              </a:spcAft>
              <a:buSzPts val="3400"/>
              <a:buNone/>
            </a:pPr>
            <a:r>
              <a:rPr sz="4000" b="1">
                <a:solidFill>
                  <a:schemeClr val="dk1"/>
                </a:solidFill>
              </a:rPr>
              <a:t>THANK YOU</a:t>
            </a:r>
            <a:endParaRPr b="1"/>
          </a:p>
        </p:txBody>
      </p:sp>
      <p:sp>
        <p:nvSpPr>
          <p:cNvPr id="416" name="Google Shape;416;p35">
            <a:extLst xmlns:a="http://schemas.openxmlformats.org/drawingml/2006/main">
              <a:ext uri="{FF2B5EF4-FFF2-40B4-BE49-F238E27FC236}">
                <a16:creationId xmlns:a16="http://schemas.microsoft.com/office/drawing/2014/main" id="{6020E51A-E1E1-46A2-8C08-522A165DC6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17" name="Google Shape;417;p35">
            <a:extLst xmlns:a="http://schemas.openxmlformats.org/drawingml/2006/main">
              <a:ext uri="{FF2B5EF4-FFF2-40B4-BE49-F238E27FC236}">
                <a16:creationId xmlns:a16="http://schemas.microsoft.com/office/drawing/2014/main" id="{47EDCB50-B349-40A8-B191-28CF48C46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21cc18615c4e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2575" y="476675"/>
            <a:ext cx="851975" cy="622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36006036"/>
      </p:ext>
    </p:extLst>
  </p:cSld>
</p:sld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>
          <a:solidFill>
            <a:schemeClr val="phClr">
              <a:tint val="60000"/>
            </a:schemeClr>
          </a:solidFill>
          <a:prstDash val="solid"/>
        </a:ln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2026-10-25T16:20:59.2240000Z</dcterms:created>
  <dcterms:modified xsi:type="dcterms:W3CDTF">2026-10-25T16:20:59.2240000Z</dcterms:modified>
</coreProperties>
</file>